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60" r:id="rId3"/>
    <p:sldId id="263" r:id="rId4"/>
    <p:sldId id="257" r:id="rId5"/>
    <p:sldId id="258" r:id="rId6"/>
    <p:sldId id="259" r:id="rId7"/>
    <p:sldId id="264" r:id="rId8"/>
    <p:sldId id="265" r:id="rId9"/>
    <p:sldId id="262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B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6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C17B-5233-48F0-BFE5-297FAE2EF1E2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F6703-0ACE-44A3-9E0F-0366656581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9691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C17B-5233-48F0-BFE5-297FAE2EF1E2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F6703-0ACE-44A3-9E0F-0366656581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896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C17B-5233-48F0-BFE5-297FAE2EF1E2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F6703-0ACE-44A3-9E0F-0366656581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879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C17B-5233-48F0-BFE5-297FAE2EF1E2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F6703-0ACE-44A3-9E0F-0366656581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8928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C17B-5233-48F0-BFE5-297FAE2EF1E2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F6703-0ACE-44A3-9E0F-0366656581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8324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C17B-5233-48F0-BFE5-297FAE2EF1E2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F6703-0ACE-44A3-9E0F-0366656581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5917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C17B-5233-48F0-BFE5-297FAE2EF1E2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F6703-0ACE-44A3-9E0F-0366656581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2270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C17B-5233-48F0-BFE5-297FAE2EF1E2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F6703-0ACE-44A3-9E0F-0366656581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21816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C17B-5233-48F0-BFE5-297FAE2EF1E2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F6703-0ACE-44A3-9E0F-0366656581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6725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說明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C17B-5233-48F0-BFE5-297FAE2EF1E2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F6703-0ACE-44A3-9E0F-0366656581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8453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標題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C17B-5233-48F0-BFE5-297FAE2EF1E2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F6703-0ACE-44A3-9E0F-03666565814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015729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C17B-5233-48F0-BFE5-297FAE2EF1E2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F6703-0ACE-44A3-9E0F-0366656581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72737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C17B-5233-48F0-BFE5-297FAE2EF1E2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F6703-0ACE-44A3-9E0F-03666565814B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66650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C17B-5233-48F0-BFE5-297FAE2EF1E2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F6703-0ACE-44A3-9E0F-0366656581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15991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C17B-5233-48F0-BFE5-297FAE2EF1E2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F6703-0ACE-44A3-9E0F-0366656581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1925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2C17B-5233-48F0-BFE5-297FAE2EF1E2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F6703-0ACE-44A3-9E0F-0366656581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7716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02C17B-5233-48F0-BFE5-297FAE2EF1E2}" type="datetimeFigureOut">
              <a:rPr lang="zh-TW" altLang="en-US" smtClean="0"/>
              <a:t>2025/12/9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7AF6703-0ACE-44A3-9E0F-03666565814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9473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125513" y="1591828"/>
            <a:ext cx="8373533" cy="633306"/>
          </a:xfrm>
        </p:spPr>
        <p:txBody>
          <a:bodyPr/>
          <a:lstStyle/>
          <a:p>
            <a:r>
              <a:rPr lang="en-US" altLang="zh-TW" sz="4000" b="1" dirty="0" smtClean="0"/>
              <a:t>Where </a:t>
            </a:r>
            <a:r>
              <a:rPr lang="en-US" altLang="zh-TW" sz="4000" b="1" dirty="0"/>
              <a:t>there's a will there's a way</a:t>
            </a:r>
            <a:endParaRPr lang="zh-TW" altLang="en-US" sz="4000" b="1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 rotWithShape="1"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235" t="41392" r="235" b="20626"/>
          <a:stretch/>
        </p:blipFill>
        <p:spPr>
          <a:xfrm>
            <a:off x="2358188" y="3458278"/>
            <a:ext cx="3773207" cy="3101797"/>
          </a:xfrm>
          <a:prstGeom prst="rect">
            <a:avLst/>
          </a:prstGeom>
        </p:spPr>
      </p:pic>
      <p:sp>
        <p:nvSpPr>
          <p:cNvPr id="5" name="標題 1"/>
          <p:cNvSpPr txBox="1">
            <a:spLocks/>
          </p:cNvSpPr>
          <p:nvPr/>
        </p:nvSpPr>
        <p:spPr>
          <a:xfrm>
            <a:off x="1237097" y="2163257"/>
            <a:ext cx="7766936" cy="49531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zh-TW" altLang="en-US" sz="2000" b="1" dirty="0" smtClean="0"/>
              <a:t>如果你真的想做一件事，你一會找到方法</a:t>
            </a:r>
            <a:endParaRPr lang="zh-TW" altLang="en-US" sz="2000" b="1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31395" y="3458278"/>
            <a:ext cx="2409988" cy="3101796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4826642" y="2873760"/>
            <a:ext cx="1527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Yu-Chi Liu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8001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6249" y="320842"/>
            <a:ext cx="8596668" cy="844572"/>
          </a:xfrm>
        </p:spPr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</a:rPr>
              <a:t>Python </a:t>
            </a:r>
            <a:r>
              <a:rPr lang="zh-TW" altLang="en-US" b="1" dirty="0">
                <a:latin typeface="微軟正黑體" panose="020B0604030504040204" pitchFamily="34" charset="-120"/>
              </a:rPr>
              <a:t>隨堂</a:t>
            </a:r>
            <a:r>
              <a:rPr lang="zh-TW" altLang="en-US" b="1" dirty="0" smtClean="0">
                <a:latin typeface="微軟正黑體" panose="020B0604030504040204" pitchFamily="34" charset="-120"/>
              </a:rPr>
              <a:t>習題</a:t>
            </a:r>
            <a:r>
              <a:rPr lang="en-US" altLang="zh-TW" b="1" dirty="0" smtClean="0">
                <a:latin typeface="微軟正黑體" panose="020B0604030504040204" pitchFamily="34" charset="-120"/>
              </a:rPr>
              <a:t>1</a:t>
            </a:r>
            <a:endParaRPr lang="zh-TW" altLang="en-US" dirty="0"/>
          </a:p>
        </p:txBody>
      </p:sp>
      <p:pic>
        <p:nvPicPr>
          <p:cNvPr id="1028" name="Picture 4" descr="https://media.geeksforgeeks.org/wp-content/uploads/decimal2binaryPython.png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694142" y="2371940"/>
            <a:ext cx="3057493" cy="4373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內容版面配置區 2"/>
          <p:cNvSpPr txBox="1">
            <a:spLocks/>
          </p:cNvSpPr>
          <p:nvPr/>
        </p:nvSpPr>
        <p:spPr>
          <a:xfrm>
            <a:off x="666982" y="1217443"/>
            <a:ext cx="10255018" cy="16569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 fontScale="85000" lnSpcReduction="20000"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TW" altLang="en-US" sz="2800" dirty="0">
                <a:latin typeface="微軟正黑體" panose="020B0604030504040204" pitchFamily="34" charset="-120"/>
              </a:rPr>
              <a:t>給定一個</a:t>
            </a:r>
            <a:r>
              <a:rPr lang="zh-TW" altLang="en-US" sz="2800" dirty="0" smtClean="0">
                <a:latin typeface="微軟正黑體" panose="020B0604030504040204" pitchFamily="34" charset="-120"/>
              </a:rPr>
              <a:t>十進制數字作為</a:t>
            </a:r>
            <a:r>
              <a:rPr lang="zh-TW" altLang="en-US" sz="2800" dirty="0">
                <a:latin typeface="微軟正黑體" panose="020B0604030504040204" pitchFamily="34" charset="-120"/>
              </a:rPr>
              <a:t>輸入</a:t>
            </a:r>
            <a:r>
              <a:rPr lang="zh-TW" altLang="en-US" sz="2800" dirty="0" smtClean="0">
                <a:latin typeface="微軟正黑體" panose="020B0604030504040204" pitchFamily="34" charset="-120"/>
              </a:rPr>
              <a:t>，撰寫</a:t>
            </a:r>
            <a:r>
              <a:rPr lang="zh-TW" altLang="en-US" sz="2800" dirty="0">
                <a:latin typeface="微軟正黑體" panose="020B0604030504040204" pitchFamily="34" charset="-120"/>
              </a:rPr>
              <a:t>一個 </a:t>
            </a:r>
            <a:r>
              <a:rPr lang="en-US" altLang="zh-TW" sz="2800" dirty="0">
                <a:latin typeface="微軟正黑體" panose="020B0604030504040204" pitchFamily="34" charset="-120"/>
              </a:rPr>
              <a:t>Python </a:t>
            </a:r>
            <a:r>
              <a:rPr lang="zh-TW" altLang="en-US" sz="2800" dirty="0" smtClean="0">
                <a:latin typeface="微軟正黑體" panose="020B0604030504040204" pitchFamily="34" charset="-120"/>
              </a:rPr>
              <a:t>程序，將</a:t>
            </a:r>
            <a:r>
              <a:rPr lang="zh-TW" altLang="en-US" sz="2800" dirty="0">
                <a:latin typeface="微軟正黑體" panose="020B0604030504040204" pitchFamily="34" charset="-120"/>
              </a:rPr>
              <a:t>給定的十進制數轉換</a:t>
            </a:r>
            <a:r>
              <a:rPr lang="zh-TW" altLang="en-US" sz="2800" dirty="0" smtClean="0">
                <a:latin typeface="微軟正黑體" panose="020B0604030504040204" pitchFamily="34" charset="-120"/>
              </a:rPr>
              <a:t>為二</a:t>
            </a:r>
            <a:r>
              <a:rPr lang="zh-TW" altLang="en-US" sz="2800" dirty="0">
                <a:latin typeface="微軟正黑體" panose="020B0604030504040204" pitchFamily="34" charset="-120"/>
              </a:rPr>
              <a:t>進制數。</a:t>
            </a:r>
            <a:endParaRPr lang="en-US" altLang="zh-TW" sz="2800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TW" altLang="zh-TW" sz="2800" b="1" dirty="0" smtClean="0">
                <a:solidFill>
                  <a:srgbClr val="FF0000"/>
                </a:solidFill>
                <a:latin typeface="+mj-ea"/>
              </a:rPr>
              <a:t>檔名：</a:t>
            </a:r>
            <a:r>
              <a:rPr lang="en-US" altLang="zh-TW" sz="2800" b="1" dirty="0" smtClean="0">
                <a:solidFill>
                  <a:srgbClr val="FF0000"/>
                </a:solidFill>
                <a:latin typeface="+mj-ea"/>
              </a:rPr>
              <a:t>test1_toBinary_studentID.py</a:t>
            </a:r>
            <a:endParaRPr lang="en-US" altLang="zh-TW" sz="2800" b="1" dirty="0" smtClean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383" y="3477626"/>
            <a:ext cx="3309929" cy="2881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267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7062" y="376136"/>
            <a:ext cx="8596668" cy="822960"/>
          </a:xfrm>
        </p:spPr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</a:rPr>
              <a:t>Python </a:t>
            </a:r>
            <a:r>
              <a:rPr lang="zh-TW" altLang="en-US" b="1" dirty="0">
                <a:latin typeface="微軟正黑體" panose="020B0604030504040204" pitchFamily="34" charset="-120"/>
              </a:rPr>
              <a:t>隨堂</a:t>
            </a:r>
            <a:r>
              <a:rPr lang="zh-TW" altLang="en-US" b="1" dirty="0" smtClean="0">
                <a:latin typeface="微軟正黑體" panose="020B0604030504040204" pitchFamily="34" charset="-120"/>
              </a:rPr>
              <a:t>習題</a:t>
            </a:r>
            <a:r>
              <a:rPr lang="en-US" altLang="zh-TW" b="1" dirty="0" smtClean="0">
                <a:latin typeface="微軟正黑體" panose="020B0604030504040204" pitchFamily="34" charset="-120"/>
              </a:rPr>
              <a:t>2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75678" y="1418996"/>
            <a:ext cx="6484754" cy="3195212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TW" altLang="en-US" sz="2400" dirty="0" smtClean="0"/>
              <a:t>實現井</a:t>
            </a:r>
            <a:r>
              <a:rPr lang="zh-TW" altLang="en-US" sz="2400" dirty="0"/>
              <a:t>字棋</a:t>
            </a:r>
            <a:r>
              <a:rPr lang="zh-TW" altLang="en-US" sz="2400" dirty="0" smtClean="0"/>
              <a:t>遊戲，與電腦對弈。</a:t>
            </a:r>
            <a:endParaRPr lang="en-US" altLang="zh-TW" sz="2400" dirty="0" smtClean="0"/>
          </a:p>
          <a:p>
            <a:pPr>
              <a:lnSpc>
                <a:spcPct val="110000"/>
              </a:lnSpc>
            </a:pPr>
            <a:r>
              <a:rPr lang="zh-TW" altLang="en-US" sz="2400" dirty="0" smtClean="0"/>
              <a:t>讓使用者輸入代號座標，填入符號。</a:t>
            </a:r>
            <a:endParaRPr lang="en-US" altLang="zh-TW" sz="2400" dirty="0" smtClean="0"/>
          </a:p>
          <a:p>
            <a:pPr>
              <a:lnSpc>
                <a:spcPct val="110000"/>
              </a:lnSpc>
            </a:pPr>
            <a:r>
              <a:rPr lang="zh-TW" altLang="en-US" sz="2400" dirty="0"/>
              <a:t>當有連續的</a:t>
            </a:r>
            <a:r>
              <a:rPr lang="en-US" altLang="zh-TW" sz="2400" dirty="0"/>
              <a:t>3</a:t>
            </a:r>
            <a:r>
              <a:rPr lang="zh-TW" altLang="en-US" sz="2400" dirty="0"/>
              <a:t>個相同符號佔領一個橫排、直排、或對角線時，則該符號的</a:t>
            </a:r>
            <a:r>
              <a:rPr lang="zh-TW" altLang="en-US" sz="2400" dirty="0" smtClean="0"/>
              <a:t>玩家獲勝。</a:t>
            </a:r>
            <a:endParaRPr lang="en-US" altLang="zh-TW" sz="2400" dirty="0"/>
          </a:p>
          <a:p>
            <a:pPr>
              <a:lnSpc>
                <a:spcPct val="110000"/>
              </a:lnSpc>
            </a:pPr>
            <a:r>
              <a:rPr lang="zh-TW" altLang="en-US" sz="2400" dirty="0" smtClean="0"/>
              <a:t>遊戲</a:t>
            </a:r>
            <a:r>
              <a:rPr lang="zh-TW" altLang="en-US" sz="2400" dirty="0"/>
              <a:t>進行</a:t>
            </a:r>
            <a:r>
              <a:rPr lang="zh-TW" altLang="en-US" sz="2400" dirty="0" smtClean="0"/>
              <a:t>時，隨時追蹤可能出現的贏家。</a:t>
            </a:r>
            <a:endParaRPr lang="en-US" altLang="zh-TW" sz="2400" dirty="0" smtClean="0"/>
          </a:p>
          <a:p>
            <a:pPr>
              <a:lnSpc>
                <a:spcPct val="110000"/>
              </a:lnSpc>
            </a:pPr>
            <a:r>
              <a:rPr lang="zh-TW" altLang="zh-TW" sz="2400" b="1" dirty="0">
                <a:solidFill>
                  <a:srgbClr val="FF0000"/>
                </a:solidFill>
                <a:latin typeface="+mj-ea"/>
              </a:rPr>
              <a:t>檔名：</a:t>
            </a:r>
            <a:r>
              <a:rPr lang="en-US" altLang="zh-TW" sz="2400" b="1" dirty="0" smtClean="0">
                <a:solidFill>
                  <a:srgbClr val="FF0000"/>
                </a:solidFill>
                <a:latin typeface="+mj-ea"/>
              </a:rPr>
              <a:t>test2_Tic_studentID.py</a:t>
            </a:r>
            <a:endParaRPr lang="en-US" altLang="zh-TW" sz="2400" b="1" dirty="0">
              <a:latin typeface="微軟正黑體" panose="020B0604030504040204" pitchFamily="34" charset="-120"/>
            </a:endParaRPr>
          </a:p>
        </p:txBody>
      </p:sp>
      <p:pic>
        <p:nvPicPr>
          <p:cNvPr id="1026" name="Picture 2" descr="Unbeatable Tic-Tac-To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919"/>
          <a:stretch/>
        </p:blipFill>
        <p:spPr bwMode="auto">
          <a:xfrm>
            <a:off x="7487767" y="0"/>
            <a:ext cx="470423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llustration of tic tac toe hi-res stock photography and images - Alamy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27" t="9310" r="10508" b="16892"/>
          <a:stretch/>
        </p:blipFill>
        <p:spPr bwMode="auto">
          <a:xfrm>
            <a:off x="2529191" y="4834108"/>
            <a:ext cx="1774032" cy="17885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8576841" y="2372807"/>
            <a:ext cx="1122744" cy="393541"/>
          </a:xfrm>
          <a:prstGeom prst="rect">
            <a:avLst/>
          </a:prstGeom>
          <a:solidFill>
            <a:srgbClr val="002B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TW" sz="1600" dirty="0" smtClean="0"/>
              <a:t>6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10249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41678" y="286604"/>
            <a:ext cx="10058400" cy="854678"/>
          </a:xfrm>
        </p:spPr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Python 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隨堂</a:t>
            </a:r>
            <a:r>
              <a:rPr lang="zh-TW" altLang="en-US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習題</a:t>
            </a:r>
            <a:r>
              <a:rPr lang="en-US" altLang="zh-TW" b="1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endParaRPr lang="zh-TW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41678" y="1259815"/>
            <a:ext cx="10290476" cy="1656920"/>
          </a:xfrm>
          <a:solidFill>
            <a:schemeClr val="bg1"/>
          </a:solidFill>
        </p:spPr>
        <p:txBody>
          <a:bodyPr>
            <a:normAutofit fontScale="85000" lnSpcReduction="20000"/>
          </a:bodyPr>
          <a:lstStyle/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TW" altLang="en-US" sz="2800" dirty="0" smtClean="0">
                <a:latin typeface="+mj-ea"/>
                <a:ea typeface="+mj-ea"/>
              </a:rPr>
              <a:t>給定一個已依由小到大順序排列的數值陣列</a:t>
            </a:r>
            <a:r>
              <a:rPr lang="en-US" altLang="zh-TW" sz="2800" dirty="0" smtClean="0">
                <a:latin typeface="+mj-ea"/>
                <a:ea typeface="+mj-ea"/>
              </a:rPr>
              <a:t>A</a:t>
            </a:r>
            <a:r>
              <a:rPr lang="zh-TW" altLang="en-US" sz="2800" dirty="0" smtClean="0">
                <a:latin typeface="+mj-ea"/>
                <a:ea typeface="+mj-ea"/>
              </a:rPr>
              <a:t>，請實作「二元搜尋法」，找出目標數值的索引。</a:t>
            </a:r>
            <a:endParaRPr lang="en-US" altLang="zh-TW" sz="2800" dirty="0" smtClean="0">
              <a:latin typeface="+mj-ea"/>
              <a:ea typeface="+mj-ea"/>
            </a:endParaRPr>
          </a:p>
          <a:p>
            <a:pPr marL="447675" indent="-447675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TW" altLang="zh-TW" sz="2800" b="1" dirty="0">
                <a:solidFill>
                  <a:srgbClr val="FF0000"/>
                </a:solidFill>
                <a:latin typeface="+mj-ea"/>
                <a:ea typeface="+mj-ea"/>
              </a:rPr>
              <a:t>檔名</a:t>
            </a:r>
            <a:r>
              <a:rPr lang="zh-TW" altLang="zh-TW" sz="2800" b="1" dirty="0" smtClean="0">
                <a:solidFill>
                  <a:srgbClr val="FF0000"/>
                </a:solidFill>
                <a:latin typeface="+mj-ea"/>
                <a:ea typeface="+mj-ea"/>
              </a:rPr>
              <a:t>：</a:t>
            </a:r>
            <a:r>
              <a:rPr lang="en-US" altLang="zh-TW" sz="2800" b="1" dirty="0" smtClean="0">
                <a:solidFill>
                  <a:srgbClr val="FF0000"/>
                </a:solidFill>
                <a:latin typeface="+mj-ea"/>
              </a:rPr>
              <a:t>test3_</a:t>
            </a:r>
            <a:r>
              <a:rPr lang="en-US" altLang="zh-TW" sz="2800" b="1" dirty="0" smtClean="0">
                <a:solidFill>
                  <a:srgbClr val="FF0000"/>
                </a:solidFill>
                <a:latin typeface="+mj-ea"/>
                <a:ea typeface="+mj-ea"/>
              </a:rPr>
              <a:t>binaryS_studentID.py</a:t>
            </a:r>
            <a:endParaRPr lang="en-US" altLang="zh-TW" sz="2800" b="1" dirty="0" smtClean="0">
              <a:latin typeface="+mj-ea"/>
              <a:ea typeface="+mj-ea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59263" y="3503778"/>
            <a:ext cx="9206694" cy="2983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49380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7957" y="320842"/>
            <a:ext cx="8596668" cy="758563"/>
          </a:xfrm>
        </p:spPr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</a:rPr>
              <a:t>Python </a:t>
            </a:r>
            <a:r>
              <a:rPr lang="zh-TW" altLang="en-US" b="1" dirty="0">
                <a:latin typeface="微軟正黑體" panose="020B0604030504040204" pitchFamily="34" charset="-120"/>
              </a:rPr>
              <a:t>隨堂</a:t>
            </a:r>
            <a:r>
              <a:rPr lang="zh-TW" altLang="en-US" b="1" dirty="0" smtClean="0">
                <a:latin typeface="微軟正黑體" panose="020B0604030504040204" pitchFamily="34" charset="-120"/>
              </a:rPr>
              <a:t>習題</a:t>
            </a:r>
            <a:r>
              <a:rPr lang="en-US" altLang="zh-TW" b="1" dirty="0" smtClean="0">
                <a:latin typeface="微軟正黑體" panose="020B0604030504040204" pitchFamily="34" charset="-120"/>
              </a:rPr>
              <a:t>3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1026" name="Picture 2" descr="binary sear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3779" y="1079405"/>
            <a:ext cx="8442732" cy="5476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2950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4201" y="330200"/>
            <a:ext cx="8596668" cy="753533"/>
          </a:xfrm>
        </p:spPr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</a:rPr>
              <a:t>Python </a:t>
            </a:r>
            <a:r>
              <a:rPr lang="zh-TW" altLang="en-US" b="1" dirty="0">
                <a:latin typeface="微軟正黑體" panose="020B0604030504040204" pitchFamily="34" charset="-120"/>
              </a:rPr>
              <a:t>隨堂</a:t>
            </a:r>
            <a:r>
              <a:rPr lang="zh-TW" altLang="en-US" b="1" dirty="0" smtClean="0">
                <a:latin typeface="微軟正黑體" panose="020B0604030504040204" pitchFamily="34" charset="-120"/>
              </a:rPr>
              <a:t>習題</a:t>
            </a:r>
            <a:r>
              <a:rPr lang="en-US" altLang="zh-TW" b="1" dirty="0" smtClean="0">
                <a:latin typeface="微軟正黑體" panose="020B0604030504040204" pitchFamily="34" charset="-120"/>
              </a:rPr>
              <a:t>4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51932" y="1183103"/>
            <a:ext cx="9620039" cy="2102028"/>
          </a:xfrm>
          <a:solidFill>
            <a:schemeClr val="bg1"/>
          </a:solidFill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zh-TW" altLang="en-US" sz="2400" dirty="0"/>
              <a:t>給定兩個大小為 </a:t>
            </a:r>
            <a:r>
              <a:rPr lang="en-US" altLang="zh-TW" sz="2400" dirty="0"/>
              <a:t>N </a:t>
            </a:r>
            <a:r>
              <a:rPr lang="zh-TW" altLang="en-US" sz="2400" dirty="0"/>
              <a:t>的正</a:t>
            </a:r>
            <a:r>
              <a:rPr lang="zh-TW" altLang="en-US" sz="2400" dirty="0" smtClean="0"/>
              <a:t>整數串列 </a:t>
            </a:r>
            <a:r>
              <a:rPr lang="en-US" altLang="zh-TW" sz="2400" dirty="0"/>
              <a:t>A </a:t>
            </a:r>
            <a:r>
              <a:rPr lang="zh-TW" altLang="en-US" sz="2400" dirty="0"/>
              <a:t>和 </a:t>
            </a:r>
            <a:r>
              <a:rPr lang="en-US" altLang="zh-TW" sz="2400" dirty="0"/>
              <a:t>B</a:t>
            </a:r>
            <a:r>
              <a:rPr lang="zh-TW" altLang="en-US" sz="2400" dirty="0" smtClean="0"/>
              <a:t>。</a:t>
            </a:r>
            <a:endParaRPr lang="en-US" altLang="zh-TW" sz="2400" dirty="0" smtClean="0"/>
          </a:p>
          <a:p>
            <a:pPr>
              <a:lnSpc>
                <a:spcPct val="150000"/>
              </a:lnSpc>
            </a:pPr>
            <a:r>
              <a:rPr lang="zh-TW" altLang="en-US" sz="2400" dirty="0" smtClean="0"/>
              <a:t>找到兩串列中元素</a:t>
            </a:r>
            <a:r>
              <a:rPr lang="zh-TW" altLang="en-US" sz="2400" dirty="0"/>
              <a:t>的最大乘積和。 </a:t>
            </a:r>
            <a:r>
              <a:rPr lang="en-US" altLang="zh-TW" sz="2400" dirty="0"/>
              <a:t>A </a:t>
            </a:r>
            <a:r>
              <a:rPr lang="zh-TW" altLang="en-US" sz="2400" dirty="0"/>
              <a:t>中的每個元素</a:t>
            </a:r>
            <a:r>
              <a:rPr lang="zh-TW" altLang="en-US" sz="2400" b="1" dirty="0">
                <a:solidFill>
                  <a:srgbClr val="FF0000"/>
                </a:solidFill>
              </a:rPr>
              <a:t>都必須</a:t>
            </a:r>
            <a:r>
              <a:rPr lang="zh-TW" altLang="en-US" sz="2400" dirty="0"/>
              <a:t>與 </a:t>
            </a:r>
            <a:r>
              <a:rPr lang="en-US" altLang="zh-TW" sz="2400" dirty="0"/>
              <a:t>B </a:t>
            </a:r>
            <a:r>
              <a:rPr lang="zh-TW" altLang="en-US" sz="2400" dirty="0"/>
              <a:t>中的一個元素</a:t>
            </a:r>
            <a:r>
              <a:rPr lang="zh-TW" altLang="en-US" sz="2400" dirty="0" smtClean="0"/>
              <a:t>相乘。</a:t>
            </a:r>
            <a:endParaRPr lang="zh-TW" altLang="en-US" sz="2400" dirty="0"/>
          </a:p>
          <a:p>
            <a:pPr>
              <a:lnSpc>
                <a:spcPct val="150000"/>
              </a:lnSpc>
            </a:pPr>
            <a:r>
              <a:rPr lang="zh-TW" altLang="zh-TW" sz="2400" b="1" dirty="0">
                <a:solidFill>
                  <a:srgbClr val="FF0000"/>
                </a:solidFill>
                <a:latin typeface="+mj-ea"/>
                <a:ea typeface="+mj-ea"/>
              </a:rPr>
              <a:t>檔名</a:t>
            </a:r>
            <a:r>
              <a:rPr lang="zh-TW" altLang="zh-TW" sz="2400" b="1" dirty="0" smtClean="0">
                <a:solidFill>
                  <a:srgbClr val="FF0000"/>
                </a:solidFill>
                <a:latin typeface="+mj-ea"/>
                <a:ea typeface="+mj-ea"/>
              </a:rPr>
              <a:t>：</a:t>
            </a:r>
            <a:r>
              <a:rPr lang="en-US" altLang="zh-TW" sz="2400" b="1" dirty="0" smtClean="0">
                <a:solidFill>
                  <a:srgbClr val="FF0000"/>
                </a:solidFill>
                <a:latin typeface="+mj-ea"/>
              </a:rPr>
              <a:t>test4_</a:t>
            </a:r>
            <a:r>
              <a:rPr lang="en-US" altLang="zh-TW" sz="2400" b="1" dirty="0" smtClean="0">
                <a:solidFill>
                  <a:srgbClr val="FF0000"/>
                </a:solidFill>
                <a:latin typeface="+mj-ea"/>
                <a:ea typeface="+mj-ea"/>
              </a:rPr>
              <a:t>maxSP_studentID.py</a:t>
            </a:r>
            <a:endParaRPr lang="en-US" altLang="zh-TW" sz="24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673" y="3610057"/>
            <a:ext cx="9332299" cy="2594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22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4201" y="330200"/>
            <a:ext cx="8596668" cy="753533"/>
          </a:xfrm>
        </p:spPr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</a:rPr>
              <a:t>Python </a:t>
            </a:r>
            <a:r>
              <a:rPr lang="zh-TW" altLang="en-US" b="1" dirty="0">
                <a:latin typeface="微軟正黑體" panose="020B0604030504040204" pitchFamily="34" charset="-120"/>
              </a:rPr>
              <a:t>隨堂</a:t>
            </a:r>
            <a:r>
              <a:rPr lang="zh-TW" altLang="en-US" b="1" dirty="0" smtClean="0">
                <a:latin typeface="微軟正黑體" panose="020B0604030504040204" pitchFamily="34" charset="-120"/>
              </a:rPr>
              <a:t>習題</a:t>
            </a:r>
            <a:r>
              <a:rPr lang="en-US" altLang="zh-TW" b="1" dirty="0" smtClean="0">
                <a:latin typeface="微軟正黑體" panose="020B0604030504040204" pitchFamily="34" charset="-120"/>
              </a:rPr>
              <a:t>5 -</a:t>
            </a:r>
            <a:r>
              <a:rPr lang="zh-TW" altLang="en-US" b="1" dirty="0">
                <a:latin typeface="微軟正黑體" panose="020B0604030504040204" pitchFamily="34" charset="-120"/>
              </a:rPr>
              <a:t>老鼠走迷宮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774316" y="1056576"/>
            <a:ext cx="9166320" cy="985918"/>
          </a:xfrm>
        </p:spPr>
        <p:txBody>
          <a:bodyPr>
            <a:noAutofit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</a:rPr>
              <a:t>利用二維矩陣設計迷宮路徑，數字</a:t>
            </a:r>
            <a:r>
              <a:rPr lang="en-US" altLang="zh-TW" sz="2000" b="1" dirty="0">
                <a:latin typeface="微軟正黑體" panose="020B0604030504040204" pitchFamily="34" charset="-120"/>
              </a:rPr>
              <a:t>1</a:t>
            </a:r>
            <a:r>
              <a:rPr lang="zh-TW" altLang="en-US" sz="2000" dirty="0">
                <a:latin typeface="微軟正黑體" panose="020B0604030504040204" pitchFamily="34" charset="-120"/>
              </a:rPr>
              <a:t>代表牆壁，無法行走，數字</a:t>
            </a:r>
            <a:r>
              <a:rPr lang="en-US" altLang="zh-TW" sz="2000" b="1" dirty="0">
                <a:latin typeface="微軟正黑體" panose="020B0604030504040204" pitchFamily="34" charset="-120"/>
              </a:rPr>
              <a:t>0</a:t>
            </a:r>
            <a:r>
              <a:rPr lang="zh-TW" altLang="en-US" sz="2000" dirty="0">
                <a:latin typeface="微軟正黑體" panose="020B0604030504040204" pitchFamily="34" charset="-120"/>
              </a:rPr>
              <a:t>代表可行走路徑，起點為左上角，終點為右下角，最終輸出</a:t>
            </a:r>
            <a:r>
              <a:rPr lang="zh-TW" altLang="en-US" sz="2000" dirty="0">
                <a:solidFill>
                  <a:srgbClr val="FF0000"/>
                </a:solidFill>
                <a:latin typeface="微軟正黑體" panose="020B0604030504040204" pitchFamily="34" charset="-120"/>
              </a:rPr>
              <a:t>每條路徑與走的步數</a:t>
            </a:r>
            <a:r>
              <a:rPr lang="zh-TW" altLang="en-US" sz="2000" dirty="0">
                <a:latin typeface="微軟正黑體" panose="020B0604030504040204" pitchFamily="34" charset="-120"/>
              </a:rPr>
              <a:t>，以及</a:t>
            </a:r>
            <a:r>
              <a:rPr lang="zh-TW" altLang="en-US" sz="2000" dirty="0">
                <a:solidFill>
                  <a:srgbClr val="FF0000"/>
                </a:solidFill>
                <a:latin typeface="微軟正黑體" panose="020B0604030504040204" pitchFamily="34" charset="-120"/>
              </a:rPr>
              <a:t>標示最佳路徑</a:t>
            </a:r>
            <a:r>
              <a:rPr lang="zh-TW" altLang="en-US" sz="2000" dirty="0" smtClean="0">
                <a:latin typeface="微軟正黑體" panose="020B0604030504040204" pitchFamily="34" charset="-120"/>
              </a:rPr>
              <a:t>。</a:t>
            </a:r>
            <a:endParaRPr lang="en-US" altLang="zh-TW" sz="2000" dirty="0" smtClean="0">
              <a:latin typeface="微軟正黑體" panose="020B0604030504040204" pitchFamily="34" charset="-120"/>
            </a:endParaRPr>
          </a:p>
          <a:p>
            <a:r>
              <a:rPr lang="zh-TW" altLang="zh-TW" sz="2000" b="1" dirty="0">
                <a:solidFill>
                  <a:srgbClr val="FF0000"/>
                </a:solidFill>
                <a:latin typeface="+mj-ea"/>
              </a:rPr>
              <a:t>檔名：</a:t>
            </a:r>
            <a:r>
              <a:rPr lang="en-US" altLang="zh-TW" sz="2000" b="1" dirty="0" smtClean="0">
                <a:solidFill>
                  <a:srgbClr val="FF0000"/>
                </a:solidFill>
                <a:latin typeface="+mj-ea"/>
              </a:rPr>
              <a:t>test5_Mouse_studentID.py</a:t>
            </a:r>
            <a:endParaRPr lang="en-US" altLang="zh-TW" sz="2000" b="1" dirty="0">
              <a:latin typeface="+mj-ea"/>
            </a:endParaRPr>
          </a:p>
          <a:p>
            <a:endParaRPr lang="en-US" altLang="zh-TW" sz="2000" dirty="0">
              <a:latin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C0ABD20-7044-D5A0-327A-112D2FC4C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079" y="2902966"/>
            <a:ext cx="4680153" cy="351011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C25C6CE-D08B-4A9B-86DD-43F3190DA473}"/>
              </a:ext>
            </a:extLst>
          </p:cNvPr>
          <p:cNvSpPr txBox="1"/>
          <p:nvPr/>
        </p:nvSpPr>
        <p:spPr>
          <a:xfrm>
            <a:off x="6174069" y="3730225"/>
            <a:ext cx="46740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TW" sz="2000" dirty="0" smtClean="0">
                <a:latin typeface="微軟正黑體" panose="020B0604030504040204" pitchFamily="34" charset="-120"/>
                <a:ea typeface="微軟正黑體" panose="020B0604030504040204" pitchFamily="34" charset="-120"/>
              </a:rPr>
              <a:t>Ex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R1 (31)=&gt; [0,0],[0,1],[0,2]……</a:t>
            </a:r>
            <a:b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R2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(47)=&gt;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[0,0],[1,1],[2,1]……</a:t>
            </a:r>
            <a:b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</a:b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Best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(22)=&gt;</a:t>
            </a:r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[0,0],[0,1],[0,2]……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1307166-84E8-4D8A-BC94-AB76176BDE53}"/>
              </a:ext>
            </a:extLst>
          </p:cNvPr>
          <p:cNvSpPr txBox="1"/>
          <p:nvPr/>
        </p:nvSpPr>
        <p:spPr>
          <a:xfrm>
            <a:off x="720106" y="2862877"/>
            <a:ext cx="765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起點</a:t>
            </a:r>
            <a:endParaRPr lang="en-US" altLang="zh-TW" dirty="0"/>
          </a:p>
          <a:p>
            <a:r>
              <a:rPr lang="en-US" altLang="zh-TW" dirty="0"/>
              <a:t>[0,0]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5BE0D5D-789B-4FA0-839B-76A6E4B76F02}"/>
              </a:ext>
            </a:extLst>
          </p:cNvPr>
          <p:cNvSpPr txBox="1"/>
          <p:nvPr/>
        </p:nvSpPr>
        <p:spPr>
          <a:xfrm>
            <a:off x="5540233" y="6420606"/>
            <a:ext cx="765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終點</a:t>
            </a:r>
            <a:endParaRPr lang="en-US" altLang="zh-TW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FC842B9-3899-4B4C-8BE2-CE3B77D55B92}"/>
              </a:ext>
            </a:extLst>
          </p:cNvPr>
          <p:cNvSpPr txBox="1"/>
          <p:nvPr/>
        </p:nvSpPr>
        <p:spPr>
          <a:xfrm>
            <a:off x="1461202" y="2511025"/>
            <a:ext cx="790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迷宮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9F2B3B7-087A-437E-9F99-95574B3E1AA6}"/>
              </a:ext>
            </a:extLst>
          </p:cNvPr>
          <p:cNvSpPr/>
          <p:nvPr/>
        </p:nvSpPr>
        <p:spPr>
          <a:xfrm>
            <a:off x="5746903" y="6140140"/>
            <a:ext cx="324553" cy="30547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2653E8-1EF6-4943-A131-404740F0AA93}"/>
              </a:ext>
            </a:extLst>
          </p:cNvPr>
          <p:cNvSpPr/>
          <p:nvPr/>
        </p:nvSpPr>
        <p:spPr>
          <a:xfrm>
            <a:off x="1365428" y="2895441"/>
            <a:ext cx="315121" cy="2763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5391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4201" y="330200"/>
            <a:ext cx="8596668" cy="753533"/>
          </a:xfrm>
        </p:spPr>
        <p:txBody>
          <a:bodyPr/>
          <a:lstStyle/>
          <a:p>
            <a:r>
              <a:rPr lang="en-US" altLang="zh-TW" b="1" dirty="0">
                <a:latin typeface="微軟正黑體" panose="020B0604030504040204" pitchFamily="34" charset="-120"/>
              </a:rPr>
              <a:t>Python </a:t>
            </a:r>
            <a:r>
              <a:rPr lang="zh-TW" altLang="en-US" b="1" dirty="0">
                <a:latin typeface="微軟正黑體" panose="020B0604030504040204" pitchFamily="34" charset="-120"/>
              </a:rPr>
              <a:t>隨堂</a:t>
            </a:r>
            <a:r>
              <a:rPr lang="zh-TW" altLang="en-US" b="1" dirty="0" smtClean="0">
                <a:latin typeface="微軟正黑體" panose="020B0604030504040204" pitchFamily="34" charset="-120"/>
              </a:rPr>
              <a:t>習題</a:t>
            </a:r>
            <a:r>
              <a:rPr lang="en-US" altLang="zh-TW" b="1" dirty="0" smtClean="0">
                <a:latin typeface="微軟正黑體" panose="020B0604030504040204" pitchFamily="34" charset="-120"/>
              </a:rPr>
              <a:t>5 -</a:t>
            </a:r>
            <a:r>
              <a:rPr lang="zh-TW" altLang="en-US" b="1" dirty="0">
                <a:latin typeface="微軟正黑體" panose="020B0604030504040204" pitchFamily="34" charset="-120"/>
              </a:rPr>
              <a:t>老鼠走迷宮</a:t>
            </a:r>
            <a:endParaRPr lang="zh-TW" altLang="en-US" dirty="0"/>
          </a:p>
        </p:txBody>
      </p:sp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774316" y="1056576"/>
            <a:ext cx="9166320" cy="985918"/>
          </a:xfrm>
        </p:spPr>
        <p:txBody>
          <a:bodyPr>
            <a:noAutofit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</a:rPr>
              <a:t>利用二維矩陣設計迷宮路徑，數字</a:t>
            </a:r>
            <a:r>
              <a:rPr lang="en-US" altLang="zh-TW" sz="2000" b="1" dirty="0">
                <a:latin typeface="微軟正黑體" panose="020B0604030504040204" pitchFamily="34" charset="-120"/>
              </a:rPr>
              <a:t>1</a:t>
            </a:r>
            <a:r>
              <a:rPr lang="zh-TW" altLang="en-US" sz="2000" dirty="0">
                <a:latin typeface="微軟正黑體" panose="020B0604030504040204" pitchFamily="34" charset="-120"/>
              </a:rPr>
              <a:t>代表牆壁，無法行走，數字</a:t>
            </a:r>
            <a:r>
              <a:rPr lang="en-US" altLang="zh-TW" sz="2000" b="1" dirty="0">
                <a:latin typeface="微軟正黑體" panose="020B0604030504040204" pitchFamily="34" charset="-120"/>
              </a:rPr>
              <a:t>0</a:t>
            </a:r>
            <a:r>
              <a:rPr lang="zh-TW" altLang="en-US" sz="2000" dirty="0">
                <a:latin typeface="微軟正黑體" panose="020B0604030504040204" pitchFamily="34" charset="-120"/>
              </a:rPr>
              <a:t>代表可行走路徑，起點為左上角，終點為右下角，最終輸出</a:t>
            </a:r>
            <a:r>
              <a:rPr lang="zh-TW" altLang="en-US" sz="2000" dirty="0">
                <a:solidFill>
                  <a:srgbClr val="FF0000"/>
                </a:solidFill>
                <a:latin typeface="微軟正黑體" panose="020B0604030504040204" pitchFamily="34" charset="-120"/>
              </a:rPr>
              <a:t>每條路徑與走的步數</a:t>
            </a:r>
            <a:r>
              <a:rPr lang="zh-TW" altLang="en-US" sz="2000" dirty="0">
                <a:latin typeface="微軟正黑體" panose="020B0604030504040204" pitchFamily="34" charset="-120"/>
              </a:rPr>
              <a:t>，以及</a:t>
            </a:r>
            <a:r>
              <a:rPr lang="zh-TW" altLang="en-US" sz="2000" dirty="0">
                <a:solidFill>
                  <a:srgbClr val="FF0000"/>
                </a:solidFill>
                <a:latin typeface="微軟正黑體" panose="020B0604030504040204" pitchFamily="34" charset="-120"/>
              </a:rPr>
              <a:t>標示最佳路徑</a:t>
            </a:r>
            <a:r>
              <a:rPr lang="zh-TW" altLang="en-US" sz="2000" dirty="0" smtClean="0">
                <a:latin typeface="微軟正黑體" panose="020B0604030504040204" pitchFamily="34" charset="-120"/>
              </a:rPr>
              <a:t>。</a:t>
            </a:r>
            <a:endParaRPr lang="en-US" altLang="zh-TW" sz="2000" dirty="0">
              <a:latin typeface="微軟正黑體" panose="020B0604030504040204" pitchFamily="34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EC7E9834-FB9B-4D27-CAB7-832C7F1B99E9}"/>
              </a:ext>
            </a:extLst>
          </p:cNvPr>
          <p:cNvSpPr txBox="1"/>
          <p:nvPr/>
        </p:nvSpPr>
        <p:spPr>
          <a:xfrm>
            <a:off x="1338820" y="2241073"/>
            <a:ext cx="5885969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altLang="zh-TW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MAZE=[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,1,1,1,1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],\</a:t>
            </a:r>
            <a:endParaRPr lang="en-US" altLang="zh-TW" sz="1600" b="0" i="0" spc="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,1,0,0,0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],\</a:t>
            </a:r>
            <a:endParaRPr lang="en-US" altLang="zh-TW" sz="1600" spc="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0,0,0,1,0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],\</a:t>
            </a:r>
            <a:endParaRPr lang="en-US" altLang="zh-TW" sz="1600" b="0" i="0" spc="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,1,1,1,0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],\</a:t>
            </a:r>
            <a:endParaRPr lang="en-US" altLang="zh-TW" sz="1600" spc="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,1,1,1,0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],\</a:t>
            </a:r>
            <a:endParaRPr lang="en-US" altLang="zh-TW" sz="1600" b="0" i="0" spc="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,1,1,1,0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],\</a:t>
            </a:r>
            <a:endParaRPr lang="en-US" altLang="zh-TW" sz="1600" b="0" i="0" spc="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,1,1,1,0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],\</a:t>
            </a:r>
            <a:endParaRPr lang="en-US" altLang="zh-TW" sz="1600" spc="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0,0,0,0,0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],\</a:t>
            </a:r>
            <a:endParaRPr lang="en-US" altLang="zh-TW" sz="1600" b="0" i="0" spc="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spc="200" dirty="0">
                <a:solidFill>
                  <a:srgbClr val="008800"/>
                </a:solidFill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0,1,1,1,0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],\</a:t>
            </a:r>
            <a:endParaRPr lang="en-US" altLang="zh-TW" sz="1600" spc="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0,1,1,1,0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],\</a:t>
            </a:r>
            <a:endParaRPr lang="en-US" altLang="zh-TW" sz="1600" b="0" i="0" spc="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0,1,1,1,0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],\</a:t>
            </a:r>
            <a:endParaRPr lang="en-US" altLang="zh-TW" sz="1600" spc="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0,0,0,1,0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],\</a:t>
            </a:r>
            <a:endParaRPr lang="en-US" altLang="zh-TW" sz="1600" b="0" i="0" spc="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,1,0,1,0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],\</a:t>
            </a:r>
            <a:endParaRPr lang="en-US" altLang="zh-TW" sz="1600" spc="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,1,0,0,0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],\</a:t>
            </a:r>
            <a:endParaRPr lang="en-US" altLang="zh-TW" sz="1600" b="0" i="0" spc="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,1,1,1,0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],\</a:t>
            </a:r>
            <a:endParaRPr lang="en-US" altLang="zh-TW" sz="1600" b="0" i="0" spc="2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pl-PL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TW" sz="1600" spc="200" dirty="0">
                <a:solidFill>
                  <a:srgbClr val="008800"/>
                </a:solidFill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TW" sz="1600" b="0" i="0" spc="200" dirty="0">
                <a:solidFill>
                  <a:srgbClr val="0088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pl-PL" altLang="zh-TW" sz="1600" b="0" i="0" spc="2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]]</a:t>
            </a:r>
            <a:endParaRPr lang="zh-TW" altLang="en-US" sz="1600" spc="200" dirty="0"/>
          </a:p>
        </p:txBody>
      </p:sp>
    </p:spTree>
    <p:extLst>
      <p:ext uri="{BB962C8B-B14F-4D97-AF65-F5344CB8AC3E}">
        <p14:creationId xmlns:p14="http://schemas.microsoft.com/office/powerpoint/2010/main" val="2720012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You are currently viewing Where there’s a will, there’s a way."/>
          <p:cNvPicPr>
            <a:picLocks noChangeAspect="1" noChangeArrowheads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855" b="20298"/>
          <a:stretch/>
        </p:blipFill>
        <p:spPr bwMode="auto">
          <a:xfrm>
            <a:off x="2091267" y="1577074"/>
            <a:ext cx="5723468" cy="4054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9194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多面向">
  <a:themeElements>
    <a:clrScheme name="多面向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多面向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多面向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143</TotalTime>
  <Words>546</Words>
  <Application>Microsoft Office PowerPoint</Application>
  <PresentationFormat>寬螢幕</PresentationFormat>
  <Paragraphs>47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6" baseType="lpstr">
      <vt:lpstr>微軟正黑體</vt:lpstr>
      <vt:lpstr>Arial</vt:lpstr>
      <vt:lpstr>Consolas</vt:lpstr>
      <vt:lpstr>Trebuchet MS</vt:lpstr>
      <vt:lpstr>Wingdings</vt:lpstr>
      <vt:lpstr>Wingdings 3</vt:lpstr>
      <vt:lpstr>多面向</vt:lpstr>
      <vt:lpstr>Where there's a will there's a way</vt:lpstr>
      <vt:lpstr>Python 隨堂習題1</vt:lpstr>
      <vt:lpstr>Python 隨堂習題2</vt:lpstr>
      <vt:lpstr>Python 隨堂習題3</vt:lpstr>
      <vt:lpstr>Python 隨堂習題3</vt:lpstr>
      <vt:lpstr>Python 隨堂習題4</vt:lpstr>
      <vt:lpstr>Python 隨堂習題5 -老鼠走迷宮</vt:lpstr>
      <vt:lpstr>Python 隨堂習題5 -老鼠走迷宮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ycliu</dc:creator>
  <cp:lastModifiedBy>YuChi Liu</cp:lastModifiedBy>
  <cp:revision>73</cp:revision>
  <dcterms:created xsi:type="dcterms:W3CDTF">2023-04-04T01:55:07Z</dcterms:created>
  <dcterms:modified xsi:type="dcterms:W3CDTF">2025-12-09T04:15:24Z</dcterms:modified>
</cp:coreProperties>
</file>